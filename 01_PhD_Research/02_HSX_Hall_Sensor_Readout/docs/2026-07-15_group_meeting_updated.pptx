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4" r:id="rId14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14" Type="http://schemas.openxmlformats.org/officeDocument/2006/relationships/slide" Target="slides/slide9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335c5a0c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335c5a0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5335c5a0c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335c5a0c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335c5a0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5335c5a0c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335c5a0c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335c5a0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5335c5a0c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335c5a0c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335c5a0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5335c5a0c_0_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335c5a0c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335c5a0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5335c5a0c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335c5a0c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5335c5a0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5335c5a0c_0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07fac930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407fac930d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Sig_White.eps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10350" y="4811713"/>
            <a:ext cx="2046288" cy="1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0" y="0"/>
            <a:ext cx="9155113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0" spcFirstLastPara="1" rIns="0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cap="none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36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2" type="subTitle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A4001D"/>
              </a:buClr>
              <a:buSzPts val="2400"/>
              <a:buNone/>
              <a:defRPr sz="2400" cap="none">
                <a:solidFill>
                  <a:srgbClr val="A4001D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3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EE-web.png"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0637" y="4519613"/>
            <a:ext cx="253040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4544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955677" y="1051101"/>
            <a:ext cx="7700963" cy="3411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4544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49327" y="1051102"/>
            <a:ext cx="3787775" cy="34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4876800" y="1051102"/>
            <a:ext cx="3779838" cy="34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4544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Horizontal">
  <p:cSld name="Two Content Horizontal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948777" y="1051101"/>
            <a:ext cx="7707862" cy="16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949327" y="2818935"/>
            <a:ext cx="7707313" cy="16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4544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949327" y="1051101"/>
            <a:ext cx="3787775" cy="350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876800" y="1051102"/>
            <a:ext cx="3779838" cy="167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876800" y="2880810"/>
            <a:ext cx="3779838" cy="1674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4544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949327" y="1051102"/>
            <a:ext cx="3787775" cy="1640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955677" y="2860189"/>
            <a:ext cx="3781425" cy="1644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4876800" y="1051102"/>
            <a:ext cx="3779838" cy="1640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4876800" y="2860189"/>
            <a:ext cx="3779838" cy="1644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3961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0" y="-6350"/>
            <a:ext cx="9155113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E-web.png" id="52" name="Google Shape;5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70637" y="4519613"/>
            <a:ext cx="253040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Clr>
                <a:srgbClr val="A4001D"/>
              </a:buClr>
              <a:buSzPts val="2100"/>
              <a:buNone/>
              <a:defRPr sz="2100" cap="none">
                <a:solidFill>
                  <a:srgbClr val="A4001D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3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4544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49325" y="584200"/>
            <a:ext cx="7707313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49325" y="1128713"/>
            <a:ext cx="7707313" cy="3303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45186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0"/>
            <a:ext cx="34849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8C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8C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E-web.png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370637" y="4519613"/>
            <a:ext cx="253040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4544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ctrTitle"/>
          </p:nvPr>
        </p:nvSpPr>
        <p:spPr>
          <a:xfrm>
            <a:off x="457200" y="1800550"/>
            <a:ext cx="82296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>
                <a:latin typeface="Source Sans Pro"/>
                <a:ea typeface="Source Sans Pro"/>
                <a:cs typeface="Source Sans Pro"/>
                <a:sym typeface="Source Sans Pro"/>
              </a:rPr>
              <a:t>Summer 2026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" name="Google Shape;61;p9"/>
          <p:cNvSpPr txBox="1"/>
          <p:nvPr>
            <p:ph idx="2" type="subTitle"/>
          </p:nvPr>
        </p:nvSpPr>
        <p:spPr>
          <a:xfrm>
            <a:off x="457200" y="2419028"/>
            <a:ext cx="82296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4001D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4001D"/>
              </a:buClr>
              <a:buSzPts val="24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4001D"/>
              </a:buClr>
              <a:buSzPts val="2400"/>
              <a:buNone/>
            </a:pPr>
            <a:r>
              <a:rPr b="1" lang="en-US"/>
              <a:t>Tim Zhao</a:t>
            </a:r>
            <a:endParaRPr b="1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HSX Goal</a:t>
            </a:r>
            <a:endParaRPr/>
          </a:p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 the previous experiment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The Hall-effect sensor produced output aligned with the plasma dynamics and energy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But, we don’t know anything else (magnetic field value, orientation, temperature noise, offset)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Next experiment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A 3D magnetic field sensing cube (3 Hall-effect sensors)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Three current-spinning and amplification readout circuit for a bandwidth of 10 kHz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Dynamic biasing current source</a:t>
            </a:r>
            <a:endParaRPr/>
          </a:p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4544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3D package design (still in progress)</a:t>
            </a:r>
            <a:endParaRPr/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4544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828" y="1221125"/>
            <a:ext cx="3470149" cy="307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500" y="1221113"/>
            <a:ext cx="3668036" cy="30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 Spinning</a:t>
            </a:r>
            <a:endParaRPr/>
          </a:p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14544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91167" y="185000"/>
            <a:ext cx="347251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/>
          <p:nvPr/>
        </p:nvSpPr>
        <p:spPr>
          <a:xfrm>
            <a:off x="1018175" y="1172200"/>
            <a:ext cx="1155300" cy="13995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3188425" y="2922250"/>
            <a:ext cx="379800" cy="73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3631350" y="3028425"/>
            <a:ext cx="379800" cy="3183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2" name="Google Shape;92;p12"/>
          <p:cNvSpPr txBox="1"/>
          <p:nvPr/>
        </p:nvSpPr>
        <p:spPr>
          <a:xfrm>
            <a:off x="6362775" y="1051100"/>
            <a:ext cx="2200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Font typeface="Source Sans Pro"/>
              <a:buAutoNum type="arabicPeriod"/>
            </a:pPr>
            <a:r>
              <a:rPr b="1" lang="en-US" sz="1800">
                <a:solidFill>
                  <a:srgbClr val="99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Resistor bridge</a:t>
            </a:r>
            <a:endParaRPr b="1" sz="1800">
              <a:solidFill>
                <a:srgbClr val="99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Source Sans Pro"/>
              <a:buAutoNum type="arabicPeriod"/>
            </a:pPr>
            <a:r>
              <a:rPr b="1" lang="en-US" sz="18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Switching network</a:t>
            </a:r>
            <a:endParaRPr b="1" sz="18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Source Sans Pro"/>
              <a:buAutoNum type="arabicPeriod"/>
            </a:pPr>
            <a:r>
              <a:rPr b="1" lang="en-US" sz="180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Amplifier</a:t>
            </a:r>
            <a:endParaRPr b="1" sz="1800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Resistor bridge</a:t>
            </a:r>
            <a:endParaRPr/>
          </a:p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4544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3">
            <a:alphaModFix/>
          </a:blip>
          <a:srcRect b="0" l="2913" r="0" t="0"/>
          <a:stretch/>
        </p:blipFill>
        <p:spPr>
          <a:xfrm>
            <a:off x="392025" y="1201350"/>
            <a:ext cx="3950700" cy="31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600" y="1440890"/>
            <a:ext cx="4724399" cy="2631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— bias sweep at 10 kHz spinning</a:t>
            </a:r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14544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75" y="1086961"/>
            <a:ext cx="7852401" cy="33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Magnify</a:t>
            </a:r>
            <a:endParaRPr/>
          </a:p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I will have the RTA Training on Friday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14544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163" y="1479850"/>
            <a:ext cx="8205112" cy="354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ctrTitle"/>
          </p:nvPr>
        </p:nvSpPr>
        <p:spPr>
          <a:xfrm>
            <a:off x="457200" y="1800550"/>
            <a:ext cx="82296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>
                <a:latin typeface="Source Sans Pro"/>
                <a:ea typeface="Source Sans Pro"/>
                <a:cs typeface="Source Sans Pro"/>
                <a:sym typeface="Source Sans Pro"/>
              </a:rPr>
              <a:t>Thank you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Spinning frequency: 10 kHz vs 40 kHz</a:t>
            </a:r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14544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75" y="1086961"/>
            <a:ext cx="7852401" cy="33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